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6576" cy="5760720"/>
          </a:xfrm>
          <a:prstGeom prst="rect">
            <a:avLst/>
          </a:prstGeom>
          <a:solidFill>
            <a:srgbClr val="E2B53C"/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548640"/>
            <a:ext cx="36576" cy="5760720"/>
          </a:xfrm>
          <a:prstGeom prst="rect">
            <a:avLst/>
          </a:prstGeom>
          <a:solidFill>
            <a:srgbClr val="E2B53C">
              <a:alpha val="65000"/>
            </a:srgbClr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" y="548640"/>
            <a:ext cx="36576" cy="5760720"/>
          </a:xfrm>
          <a:prstGeom prst="rect">
            <a:avLst/>
          </a:prstGeom>
          <a:solidFill>
            <a:srgbClr val="E2B53C">
              <a:alpha val="50000"/>
            </a:srgbClr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" y="548640"/>
            <a:ext cx="36576" cy="5760720"/>
          </a:xfrm>
          <a:prstGeom prst="rect">
            <a:avLst/>
          </a:prstGeom>
          <a:solidFill>
            <a:srgbClr val="E2B53C">
              <a:alpha val="35000"/>
            </a:srgbClr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7008" y="548640"/>
            <a:ext cx="36576" cy="5760720"/>
          </a:xfrm>
          <a:prstGeom prst="rect">
            <a:avLst/>
          </a:prstGeom>
          <a:solidFill>
            <a:srgbClr val="E2B53C">
              <a:alpha val="20000"/>
            </a:srgbClr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2B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ADBI · STRATEGIC RESEARCH PROGRAM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92024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Shaping Asia's Future Prosperity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828800" y="28803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9AD1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</a:t>
            </a:r>
            <a:pPr indent="0" marL="0">
              <a:buNone/>
            </a:pPr>
            <a:r>
              <a:rPr lang="en-US" sz="4400" b="1" i="1" dirty="0">
                <a:solidFill>
                  <a:srgbClr val="E2B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Growth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1828800" y="4023360"/>
            <a:ext cx="1280160" cy="36576"/>
          </a:xfrm>
          <a:prstGeom prst="rect">
            <a:avLst/>
          </a:prstGeom>
          <a:solidFill>
            <a:srgbClr val="E2B53C"/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25196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for researchers and partner institutes — five strategic pillars and twelve country studies guiding ADBI's contribution to inclusive, sustainable growth across Asia.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DEVELOPMENT BANK INSTITUTE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Program · Guidelines Briefing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2B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2B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Shaping Asia's Future Prosperity with Quality Growth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31520" cy="45720"/>
          </a:xfrm>
          <a:prstGeom prst="rect">
            <a:avLst/>
          </a:prstGeom>
          <a:solidFill>
            <a:srgbClr val="E2B53C"/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ADBI's research agenda is anchored in the conviction that Asia's next chapter of growth must be measured not only by speed, but by quality — growth that is inclusive, resilient, innovative, and sustainable. "Quality Growth" is the lens through which every research output, country study, and policy recommendation is framed.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2697480" cy="2286000"/>
          </a:xfrm>
          <a:prstGeom prst="rect">
            <a:avLst/>
          </a:prstGeom>
          <a:solidFill>
            <a:srgbClr val="F4F6F9"/>
          </a:solidFill>
          <a:ln w="9525">
            <a:solidFill>
              <a:srgbClr val="E1E5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520440"/>
            <a:ext cx="82296" cy="2286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Inclusive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22960" y="4361688"/>
            <a:ext cx="365760" cy="274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526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inequality and lifts the informal economy.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10712" y="3520440"/>
            <a:ext cx="2697480" cy="2286000"/>
          </a:xfrm>
          <a:prstGeom prst="rect">
            <a:avLst/>
          </a:prstGeom>
          <a:solidFill>
            <a:srgbClr val="F4F6F9"/>
          </a:solidFill>
          <a:ln w="9525">
            <a:solidFill>
              <a:srgbClr val="E1E5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10712" y="3520440"/>
            <a:ext cx="82296" cy="2286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Resilient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685032" y="4361688"/>
            <a:ext cx="36576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85032" y="4526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Withstands macro, climate, and geopolitical shocks.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2784" y="3520440"/>
            <a:ext cx="2697480" cy="2286000"/>
          </a:xfrm>
          <a:prstGeom prst="rect">
            <a:avLst/>
          </a:prstGeom>
          <a:solidFill>
            <a:srgbClr val="F4F6F9"/>
          </a:solidFill>
          <a:ln w="9525">
            <a:solidFill>
              <a:srgbClr val="E1E5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3520440"/>
            <a:ext cx="82296" cy="2286000"/>
          </a:xfrm>
          <a:prstGeom prst="rect">
            <a:avLst/>
          </a:prstGeom>
          <a:solidFill>
            <a:srgbClr val="E2B53C"/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7104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Innovative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547104" y="4361688"/>
            <a:ext cx="365760" cy="27432"/>
          </a:xfrm>
          <a:prstGeom prst="rect">
            <a:avLst/>
          </a:prstGeom>
          <a:solidFill>
            <a:srgbClr val="E2B53C"/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7104" y="4526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digital transformation and human capital.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34856" y="3520440"/>
            <a:ext cx="2697480" cy="2286000"/>
          </a:xfrm>
          <a:prstGeom prst="rect">
            <a:avLst/>
          </a:prstGeom>
          <a:solidFill>
            <a:srgbClr val="F4F6F9"/>
          </a:solidFill>
          <a:ln w="9525">
            <a:solidFill>
              <a:srgbClr val="E1E5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34856" y="3520440"/>
            <a:ext cx="82296" cy="22860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9176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Sustainable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409176" y="4361688"/>
            <a:ext cx="365760" cy="2743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09176" y="4526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climate goals and quality infrastructure.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ADBI  ·  QUALITY GROWTH FRAMEWORK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2B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Pillars of the Research Program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31520" cy="45720"/>
          </a:xfrm>
          <a:prstGeom prst="rect">
            <a:avLst/>
          </a:prstGeom>
          <a:solidFill>
            <a:srgbClr val="E2B53C"/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ADBI research output and country study should align with at least one of these five pillars. Together they form the architecture of the Quality Growth agenda.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15798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606040"/>
            <a:ext cx="2157984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26080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777240" y="411480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4389120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Macroeconomic Stability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International Finance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71216" y="2606040"/>
            <a:ext cx="215798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1216" y="2606040"/>
            <a:ext cx="2157984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8376" y="2926080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3099816" y="411480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99816" y="4389120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Integration, Trade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Investment, Industrial Policy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93792" y="2606040"/>
            <a:ext cx="215798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93792" y="2606040"/>
            <a:ext cx="2157984" cy="164592"/>
          </a:xfrm>
          <a:prstGeom prst="rect">
            <a:avLst/>
          </a:prstGeom>
          <a:solidFill>
            <a:srgbClr val="E2B53C"/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30952" y="2926080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E2B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5422392" y="411480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22392" y="4389120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Innovation, Digital Transformation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Technology Adoption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516368" y="2606040"/>
            <a:ext cx="215798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16368" y="2606040"/>
            <a:ext cx="2157984" cy="16459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53528" y="2926080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6400" dirty="0"/>
          </a:p>
        </p:txBody>
      </p:sp>
      <p:sp>
        <p:nvSpPr>
          <p:cNvPr id="24" name="Text 22"/>
          <p:cNvSpPr/>
          <p:nvPr/>
        </p:nvSpPr>
        <p:spPr>
          <a:xfrm>
            <a:off x="7744968" y="411480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44968" y="4389120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Growth: Human Capital,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Equity &amp; the Informal Economy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838944" y="2606040"/>
            <a:ext cx="215798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38944" y="2606040"/>
            <a:ext cx="2157984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76104" y="2926080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6400" dirty="0"/>
          </a:p>
        </p:txBody>
      </p:sp>
      <p:sp>
        <p:nvSpPr>
          <p:cNvPr id="29" name="Text 27"/>
          <p:cNvSpPr/>
          <p:nvPr/>
        </p:nvSpPr>
        <p:spPr>
          <a:xfrm>
            <a:off x="10067544" y="411480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067544" y="4389120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Climate, Sustainability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Infrastructure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ADBI  ·  FIVE PILLARS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36576" cy="640080"/>
          </a:xfrm>
          <a:prstGeom prst="rect">
            <a:avLst/>
          </a:prstGeom>
          <a:solidFill>
            <a:srgbClr val="E2B53C"/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548640"/>
            <a:ext cx="36576" cy="640080"/>
          </a:xfrm>
          <a:prstGeom prst="rect">
            <a:avLst/>
          </a:prstGeom>
          <a:solidFill>
            <a:srgbClr val="E2B53C">
              <a:alpha val="70000"/>
            </a:srgbClr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548640"/>
            <a:ext cx="36576" cy="640080"/>
          </a:xfrm>
          <a:prstGeom prst="rect">
            <a:avLst/>
          </a:prstGeom>
          <a:solidFill>
            <a:srgbClr val="E2B53C">
              <a:alpha val="40000"/>
            </a:srgbClr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2B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40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Macroeconomic Stability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International Finance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062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2B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COVERS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0" y="9601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the foundations that keep Asian economies stable and globally connected — fiscal and monetary policy, capital flows, exchange-rate regimes, financial sector resilience, and the region's voice in the international financial architecture.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0624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themes &amp; focus areas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6240" y="3063240"/>
            <a:ext cx="36576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3246120"/>
            <a:ext cx="7498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Monetary, fiscal and debt sustainability across Asia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flows, exchange rates and balance-of-payments risk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Banking, financial stability and crisis preparedness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finance and reform of the global financial system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06240" y="5577840"/>
            <a:ext cx="740664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5577840"/>
            <a:ext cx="64008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5650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RESEARCHERS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34840" y="587044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studies that touch on inflation, debt, currency, banking, or the IMF/BIS/World-Bank architecture with this pillar.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ADBI  ·  PILLAR 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36576" cy="640080"/>
          </a:xfrm>
          <a:prstGeom prst="rect">
            <a:avLst/>
          </a:prstGeom>
          <a:solidFill>
            <a:srgbClr val="E2B53C"/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548640"/>
            <a:ext cx="36576" cy="640080"/>
          </a:xfrm>
          <a:prstGeom prst="rect">
            <a:avLst/>
          </a:prstGeom>
          <a:solidFill>
            <a:srgbClr val="E2B53C">
              <a:alpha val="70000"/>
            </a:srgbClr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548640"/>
            <a:ext cx="36576" cy="640080"/>
          </a:xfrm>
          <a:prstGeom prst="rect">
            <a:avLst/>
          </a:prstGeom>
          <a:solidFill>
            <a:srgbClr val="E2B53C">
              <a:alpha val="40000"/>
            </a:srgbClr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2B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40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Integration,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Trade, Investment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Industrial Policy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062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2B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COVERS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0" y="9601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 how Asian economies grow together — through trade agreements, cross-border investment, value chains, and the industrial strategies that allow countries to upgrade their position in the regional and global economy.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0624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themes &amp; focus areas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6240" y="3063240"/>
            <a:ext cx="36576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3246120"/>
            <a:ext cx="7498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agreements, tariff policy and global value chains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direct investment and cross-border supply networks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policy, manufacturing upgrading and competitiveness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cooperation mechanisms (ASEAN+, RCEP, CAREC, SAARC)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06240" y="5577840"/>
            <a:ext cx="740664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5577840"/>
            <a:ext cx="64008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5650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RESEARCHERS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34840" y="587044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pillar when studies involve trade, FDI, GVCs, SEZs, or any cross-country economic-integration question.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ADBI  ·  PILLAR II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36576" cy="640080"/>
          </a:xfrm>
          <a:prstGeom prst="rect">
            <a:avLst/>
          </a:prstGeom>
          <a:solidFill>
            <a:srgbClr val="E2B53C"/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548640"/>
            <a:ext cx="36576" cy="640080"/>
          </a:xfrm>
          <a:prstGeom prst="rect">
            <a:avLst/>
          </a:prstGeom>
          <a:solidFill>
            <a:srgbClr val="E2B53C">
              <a:alpha val="70000"/>
            </a:srgbClr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548640"/>
            <a:ext cx="36576" cy="640080"/>
          </a:xfrm>
          <a:prstGeom prst="rect">
            <a:avLst/>
          </a:prstGeom>
          <a:solidFill>
            <a:srgbClr val="E2B53C">
              <a:alpha val="40000"/>
            </a:srgbClr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2B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40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Innovation, Digital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Transformation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Technology Adoption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062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2B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COVERS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0" y="9601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forces reshaping how Asian economies produce, work and trade — digital platforms, artificial intelligence, fintech, automation, and the policy and skills required to absorb them inclusively.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0624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themes &amp; focus areas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6240" y="3063240"/>
            <a:ext cx="365760" cy="36576"/>
          </a:xfrm>
          <a:prstGeom prst="rect">
            <a:avLst/>
          </a:prstGeom>
          <a:solidFill>
            <a:srgbClr val="E2B53C"/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3246120"/>
            <a:ext cx="7498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economy, e-commerce and platform regulation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automation and the future of work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Fintech, digital payments and financial inclusion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systems, innovation ecosystems and tech diffusion to SMEs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06240" y="5577840"/>
            <a:ext cx="740664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5577840"/>
            <a:ext cx="64008" cy="777240"/>
          </a:xfrm>
          <a:prstGeom prst="rect">
            <a:avLst/>
          </a:prstGeom>
          <a:solidFill>
            <a:srgbClr val="E2B53C"/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5650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RESEARCHERS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34840" y="587044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research here if it touches digitalization, AI/data policy, fintech, R&amp;D, or technology diffusion in any sector.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ADBI  ·  PILLAR III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36576" cy="640080"/>
          </a:xfrm>
          <a:prstGeom prst="rect">
            <a:avLst/>
          </a:prstGeom>
          <a:solidFill>
            <a:srgbClr val="E2B53C"/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548640"/>
            <a:ext cx="36576" cy="640080"/>
          </a:xfrm>
          <a:prstGeom prst="rect">
            <a:avLst/>
          </a:prstGeom>
          <a:solidFill>
            <a:srgbClr val="E2B53C">
              <a:alpha val="70000"/>
            </a:srgbClr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548640"/>
            <a:ext cx="36576" cy="640080"/>
          </a:xfrm>
          <a:prstGeom prst="rect">
            <a:avLst/>
          </a:prstGeom>
          <a:solidFill>
            <a:srgbClr val="E2B53C">
              <a:alpha val="40000"/>
            </a:srgbClr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2B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40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Growth: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Capital, Equity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the Informal Economy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062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2B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COVERS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0" y="9601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the Quality Growth agenda — making sure that the benefits of development reach people. Covers education and skills, labour markets, poverty, inequality, social protection and the large informal sectors that define many Asian economies.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0624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themes &amp; focus areas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6240" y="3063240"/>
            <a:ext cx="365760" cy="36576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3246120"/>
            <a:ext cx="7498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capital, education systems and skills for the future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reduction, inequality and social protection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markets, gender equity and demographic change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informal economy: measurement, productivity and formalization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06240" y="5577840"/>
            <a:ext cx="740664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5577840"/>
            <a:ext cx="64008" cy="77724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5650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RESEARCHERS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34840" y="587044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pillar for studies on people, jobs, schools, poverty, gender, ageing, or informal/gig work.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ADBI  ·  PILLAR IV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36576" cy="640080"/>
          </a:xfrm>
          <a:prstGeom prst="rect">
            <a:avLst/>
          </a:prstGeom>
          <a:solidFill>
            <a:srgbClr val="E2B53C"/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548640"/>
            <a:ext cx="36576" cy="640080"/>
          </a:xfrm>
          <a:prstGeom prst="rect">
            <a:avLst/>
          </a:prstGeom>
          <a:solidFill>
            <a:srgbClr val="E2B53C">
              <a:alpha val="70000"/>
            </a:srgbClr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548640"/>
            <a:ext cx="36576" cy="640080"/>
          </a:xfrm>
          <a:prstGeom prst="rect">
            <a:avLst/>
          </a:prstGeom>
          <a:solidFill>
            <a:srgbClr val="E2B53C">
              <a:alpha val="40000"/>
            </a:srgbClr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2B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40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Climate, Sustainability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Infrastructure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062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2B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COVERS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0" y="9601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the defining long-term challenge — building low-carbon, climate-resilient, and connected economies. Spans the energy transition, green finance, sustainable transport, water and the quality of physical and digital infrastructure.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0624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themes &amp; focus areas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6240" y="3063240"/>
            <a:ext cx="36576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3246120"/>
            <a:ext cx="7498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mitigation, adaptation and just transition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transition, renewables and carbon pricing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and transition finance, sustainable investment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infrastructure: transport, water, urban and digital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06240" y="5577840"/>
            <a:ext cx="740664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5577840"/>
            <a:ext cx="64008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5650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RESEARCHERS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34840" y="587044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pillar for any work on climate, energy, environment, disaster risk or infrastructure investment.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ADBI  ·  PILLAR V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2B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BASE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Country Studies Across Asia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31520" cy="45720"/>
          </a:xfrm>
          <a:prstGeom prst="rect">
            <a:avLst/>
          </a:prstGeom>
          <a:solidFill>
            <a:srgbClr val="E2B53C"/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pillars are applied through a network of country studies. Partner institutes — primarily independent thinktanks — produce evidence and policy analysis grounded in their national context, with two consulting authors complementing the coverage.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657600" cy="219456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017520"/>
            <a:ext cx="3657600" cy="109728"/>
          </a:xfrm>
          <a:prstGeom prst="rect">
            <a:avLst/>
          </a:prstGeom>
          <a:solidFill>
            <a:srgbClr val="E2B53C"/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918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B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Country studies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709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South, Southeast, East and Central Asia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3017520"/>
            <a:ext cx="3657600" cy="219456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3017520"/>
            <a:ext cx="3657600" cy="109728"/>
          </a:xfrm>
          <a:prstGeom prst="rect">
            <a:avLst/>
          </a:prstGeom>
          <a:solidFill>
            <a:srgbClr val="E2B53C"/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2918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9000" dirty="0"/>
          </a:p>
        </p:txBody>
      </p:sp>
      <p:sp>
        <p:nvSpPr>
          <p:cNvPr id="14" name="Text 12"/>
          <p:cNvSpPr/>
          <p:nvPr/>
        </p:nvSpPr>
        <p:spPr>
          <a:xfrm>
            <a:off x="4663440" y="4389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B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thinktanks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4709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institutes embedded in national policy ecosystems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3017520"/>
            <a:ext cx="3657600" cy="219456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3017520"/>
            <a:ext cx="3657600" cy="109728"/>
          </a:xfrm>
          <a:prstGeom prst="rect">
            <a:avLst/>
          </a:prstGeom>
          <a:solidFill>
            <a:srgbClr val="E2B53C"/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32918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000" dirty="0"/>
          </a:p>
        </p:txBody>
      </p:sp>
      <p:sp>
        <p:nvSpPr>
          <p:cNvPr id="19" name="Text 17"/>
          <p:cNvSpPr/>
          <p:nvPr/>
        </p:nvSpPr>
        <p:spPr>
          <a:xfrm>
            <a:off x="8503920" y="4389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B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Author-consultants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3920" y="4709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leads complementing institutional coverage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are grouped by World-Bank income classification, ensuring comparability of context and policy challenges: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806440"/>
            <a:ext cx="53949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806440"/>
            <a:ext cx="73152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852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· Upper-Middle and High-Income economies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5806440"/>
            <a:ext cx="53949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5806440"/>
            <a:ext cx="73152" cy="457200"/>
          </a:xfrm>
          <a:prstGeom prst="rect">
            <a:avLst/>
          </a:prstGeom>
          <a:solidFill>
            <a:srgbClr val="E2B53C"/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5852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 · Middle-Income economies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ADBI  ·  COUNTRY STUDIES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Upper-Middle and High-Income Country Studies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31520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371600"/>
                <a:gridCol w="1463040"/>
                <a:gridCol w="5852160"/>
                <a:gridCol w="19202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Malaysia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Institute of Strategic &amp; International Studies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Thinktank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Thailand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Thailand Development Research Institute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Thinktank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Kazakhstan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Economics Research Institute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Thinktank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Indonesia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Institute for Research on Economics and Society — FEB, University of Indonesia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Thinktank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Economics Research Institute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Thinktank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Aaron Yong 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academic lead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2B5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Consultant / Author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7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confirmed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Thinktank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8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Prof. Okazaki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academic lead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2B5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Consultant / Author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035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role: each institute or consultant produces the country study and contributes cross-pillar evidence relevant to ADBI's flagship outputs.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ADBI  ·  COUNTRY STUDIES · GROUP 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2B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Middle-Income Country Studies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31520" cy="45720"/>
          </a:xfrm>
          <a:prstGeom prst="rect">
            <a:avLst/>
          </a:prstGeom>
          <a:solidFill>
            <a:srgbClr val="E2B53C"/>
          </a:solidFill>
          <a:ln w="12700">
            <a:solidFill>
              <a:srgbClr val="E2B53C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554480"/>
                <a:gridCol w="1371600"/>
                <a:gridCol w="576072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B5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and Information System for Developing Countries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Thinktank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B5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Philippines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Philippine Institute for Development Studies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Thinktank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B5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Uzbekistan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Institute of Macroeconomic and Regional Studies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Thinktank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B5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Vietnam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DEPOCEN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and Policies Research Center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Thinktank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B5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Bangladesh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Bangladesh Institute of Development Studies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Thinktank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B5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Pakistan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46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Pakistan Institute of Development Economics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Thinktank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40680"/>
            <a:ext cx="5394960" cy="960120"/>
          </a:xfrm>
          <a:prstGeom prst="rect">
            <a:avLst/>
          </a:prstGeom>
          <a:solidFill>
            <a:srgbClr val="F4F6F9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440680"/>
            <a:ext cx="82296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504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South Asia coverage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58064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India, Bangladesh and Pakistan anchor the region's evidence on inequality, informality and human capital.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0" y="5440680"/>
            <a:ext cx="5394960" cy="960120"/>
          </a:xfrm>
          <a:prstGeom prst="rect">
            <a:avLst/>
          </a:prstGeom>
          <a:solidFill>
            <a:srgbClr val="F4F6F9"/>
          </a:solidFill>
          <a:ln w="6350">
            <a:solidFill>
              <a:srgbClr val="E1E5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7920" y="5440680"/>
            <a:ext cx="82296" cy="960120"/>
          </a:xfrm>
          <a:prstGeom prst="rect">
            <a:avLst/>
          </a:prstGeom>
          <a:solidFill>
            <a:srgbClr val="E2B53C"/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5504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Southeast &amp; Central Asia coverage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46520" y="58064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Vietnam, the Philippines and Uzbekistan extend the reach into rising middle-income reformers.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ADBI  ·  COUNTRY STUDIES · GROUP B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6576" cy="640080"/>
          </a:xfrm>
          <a:prstGeom prst="rect">
            <a:avLst/>
          </a:prstGeom>
          <a:solidFill>
            <a:srgbClr val="E2B53C"/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548640"/>
            <a:ext cx="36576" cy="640080"/>
          </a:xfrm>
          <a:prstGeom prst="rect">
            <a:avLst/>
          </a:prstGeom>
          <a:solidFill>
            <a:srgbClr val="E2B53C">
              <a:alpha val="82000"/>
            </a:srgbClr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" y="548640"/>
            <a:ext cx="36576" cy="640080"/>
          </a:xfrm>
          <a:prstGeom prst="rect">
            <a:avLst/>
          </a:prstGeom>
          <a:solidFill>
            <a:srgbClr val="E2B53C">
              <a:alpha val="64000"/>
            </a:srgbClr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" y="548640"/>
            <a:ext cx="36576" cy="640080"/>
          </a:xfrm>
          <a:prstGeom prst="rect">
            <a:avLst/>
          </a:prstGeom>
          <a:solidFill>
            <a:srgbClr val="E2B53C">
              <a:alpha val="46000"/>
            </a:srgbClr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7008" y="548640"/>
            <a:ext cx="36576" cy="640080"/>
          </a:xfrm>
          <a:prstGeom prst="rect">
            <a:avLst/>
          </a:prstGeom>
          <a:solidFill>
            <a:srgbClr val="E2B53C">
              <a:alpha val="28000"/>
            </a:srgbClr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2B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RESEARCHERS &amp; PARTNERS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Aligning Your Work with the Framework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914400" cy="36576"/>
          </a:xfrm>
          <a:prstGeom prst="rect">
            <a:avLst/>
          </a:prstGeom>
          <a:solidFill>
            <a:srgbClr val="E2B53C"/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108960"/>
            <a:ext cx="3657600" cy="3017520"/>
          </a:xfrm>
          <a:prstGeom prst="rect">
            <a:avLst/>
          </a:prstGeom>
          <a:solidFill>
            <a:srgbClr val="065A82">
              <a:alpha val="3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37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E2B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822960" y="4187952"/>
            <a:ext cx="365760" cy="27432"/>
          </a:xfrm>
          <a:prstGeom prst="rect">
            <a:avLst/>
          </a:prstGeom>
          <a:solidFill>
            <a:srgbClr val="E2B53C"/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297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to a pillar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5074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paper, brief or country chapter should explicitly identify the pillar(s) it contributes to. Cross-pillar studies are encouraged and should name each pillar in the abstract.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07408" y="3108960"/>
            <a:ext cx="3657600" cy="3017520"/>
          </a:xfrm>
          <a:prstGeom prst="rect">
            <a:avLst/>
          </a:prstGeom>
          <a:solidFill>
            <a:srgbClr val="065A82">
              <a:alpha val="3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3337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E2B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17" name="Shape 15"/>
          <p:cNvSpPr/>
          <p:nvPr/>
        </p:nvSpPr>
        <p:spPr>
          <a:xfrm>
            <a:off x="4681728" y="4187952"/>
            <a:ext cx="365760" cy="27432"/>
          </a:xfrm>
          <a:prstGeom prst="rect">
            <a:avLst/>
          </a:prstGeom>
          <a:solidFill>
            <a:srgbClr val="E2B53C"/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4297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 in Quality Growth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81728" y="5074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recommendations should be evaluated against the four lenses — inclusive, resilient, innovative, sustainable — not against headline GDP growth alone.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66176" y="3108960"/>
            <a:ext cx="3657600" cy="3017520"/>
          </a:xfrm>
          <a:prstGeom prst="rect">
            <a:avLst/>
          </a:prstGeom>
          <a:solidFill>
            <a:srgbClr val="065A82">
              <a:alpha val="3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0496" y="3337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E2B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8540496" y="4187952"/>
            <a:ext cx="365760" cy="27432"/>
          </a:xfrm>
          <a:prstGeom prst="rect">
            <a:avLst/>
          </a:prstGeom>
          <a:solidFill>
            <a:srgbClr val="E2B53C"/>
          </a:solidFill>
          <a:ln w="12700">
            <a:solidFill>
              <a:srgbClr val="E2B5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0496" y="4297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the country network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540496" y="5074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possible, draw on or co-author with the partner institute for the relevant country. Comparative work across income groups is a priority.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DEVELOPMENT BANK INSTITUTE  ·  RESEARCH PROGRAM GUIDELINES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47120" y="6309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2B5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Shaping Asia's Future Prosperity with Quality Growth</dc:title>
  <dc:subject>PptxGenJS Presentation</dc:subject>
  <dc:creator>ADBI Research Program</dc:creator>
  <cp:lastModifiedBy>ADBI Research Program</cp:lastModifiedBy>
  <cp:revision>1</cp:revision>
  <dcterms:created xsi:type="dcterms:W3CDTF">2026-06-08T10:20:01Z</dcterms:created>
  <dcterms:modified xsi:type="dcterms:W3CDTF">2026-06-08T10:20:01Z</dcterms:modified>
</cp:coreProperties>
</file>